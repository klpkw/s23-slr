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9B4A8-F5D9-4F96-AE9B-65A6AC14D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4B6938-F04F-4AF8-9EC7-FF597228B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D6C06B-CEF7-4125-B2EC-8FB773ED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B58C4-89D9-47D4-A5AA-60D7713EE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17E9EE-541F-4CAD-89C0-649D83E7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80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23E2E-E54F-4F2E-9DC0-4ECEC942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D107B6-B69E-495F-A425-518252AD9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979B8B-2379-4ED5-B221-1E228ADC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A83CE2-8678-4083-8B68-2B0E58EB0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F2E94C-E222-4B87-90BB-7CA331E8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74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A2FDC-89A7-4722-814D-CBCA34F8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29DD1C-EAC9-4C86-80D4-681EDD862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502A82-94F9-4B6F-8F24-BFB913784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436348-2CF3-4C52-B9DF-521BDC66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74C760-84B8-4E30-9462-12123C3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43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EF12B-9524-430E-80FC-AFD70E04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85FDD8-11A6-4A9B-8250-9407ACC2B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E1CA98-35AB-47A4-A7C8-860AF15E6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614439-B2F2-4D7E-8B19-AA3123D6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83BA8A-1777-49FA-AF3C-0F9F96A75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E658CD-4594-46AD-87F9-996E3BCF6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83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CBB07-6E80-4048-8271-BDE97C28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F02941-5C16-4C73-810A-F29444396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135369-A93C-4158-8C43-FE32AB3A9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28493F-AEB8-4CCA-8823-92A239B05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61CF57-4BDF-4733-BCC2-384E533255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8E7CCF2-B1FD-4407-8E11-9C98847EC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5DADFF-E1AB-45E1-86B6-794C7F49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26DCF5-748D-4251-9767-E0B339CB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09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0C065-CF67-42B6-845B-7AC6730B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5C6052-AB12-48A3-93D1-D458AC54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CE0F87-C5B9-4D9A-9816-46372FCD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74A0CE-6EA8-461A-8108-05A6ECD0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415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35FEF1-A51E-4514-A7C6-71652EF10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4EF871-3394-490B-8D16-3C09607B2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613BAB-60F5-49B4-866D-0619D2B3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50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E08D9-E581-4345-BF00-27207170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18CB7D-E3AA-4E37-AEEF-E5B08AD76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E381D0-624B-497C-AF57-2D3D351EB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2928B1-53F2-492A-BC3F-465044A2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1EED52-AC2F-4CF1-9049-CC1496C7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87FE10-DD9E-4DA5-AEFA-31DF6D73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328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F1955-6DA1-4BB6-BF10-B5541D15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BC2E76E-56BD-4687-8F16-4B12AB426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0DC952-1E06-4C8D-8570-7EED87D51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5B78A1-5064-4D14-B4D7-2256FE2B6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A89743-FC4F-44AF-BA47-0A1E7ACD1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0F0C5E-C300-4B9E-AAD4-888EE4AE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308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D40BB-AFE1-4C08-951F-2B177945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2DDCF8-633A-493E-B591-025654391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146B34-CD2A-40A1-AB95-F87A64AA1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880CF1-8246-4C0D-AA5C-2F6BBA7D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296080-FB50-4D90-BC93-2C6D7B18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38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911FC5E-AB62-4065-B4BB-DEF871F45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25379C-F245-4CE0-ADD3-92F8F2EBF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C0E765-4D91-4C68-A8B6-7D2955DE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7CA686-AD2B-416E-B98E-5491791F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82FCC1-3585-4BDC-8836-BD964FC0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81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D1C006-3FE2-4CED-B8CD-251FD958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B6D4F9-72DD-46E9-A243-6D4ADBB50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D0C09E-3FFF-48E9-89AC-C671BD508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B2A78-6971-45EA-A6E4-46FCBD7D2D40}" type="datetimeFigureOut">
              <a:rPr lang="ru-RU" smtClean="0"/>
              <a:t>30.03.2023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D86ED2-4D37-44E3-AC50-29EB8B1AE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6EBD0E-C106-48F3-8F3A-82B06F6C9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882D4-87C4-4240-AFF4-B64F416CD1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73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9B069-618C-4295-BFA8-D14E65A95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3584" y="132424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Week 9 Report for Systematic Literature Review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493BA9-6F83-4017-AD5A-9C891E7CB7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Oleg Ostapovich, Vladimir Klepikov, Mark Vishnevsky, Amir Zakirov, and Abdul Rahman Takriti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319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69DC1-B236-445D-9CF6-DFC1F650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for today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A48F74-DD41-4123-BB9B-78C6152A8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Methodology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290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96AC0-5C94-4B39-8F38-914C9B8C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73FBAA-15CB-43EC-B3C0-C8E14C0DC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consist from:</a:t>
            </a:r>
          </a:p>
          <a:p>
            <a:pPr lvl="1"/>
            <a:r>
              <a:rPr lang="en-US" dirty="0"/>
              <a:t>Describing topic</a:t>
            </a:r>
          </a:p>
          <a:p>
            <a:pPr lvl="1"/>
            <a:r>
              <a:rPr lang="en-US" dirty="0"/>
              <a:t>Describing parts which discussed into article</a:t>
            </a:r>
          </a:p>
          <a:p>
            <a:pPr lvl="1"/>
            <a:r>
              <a:rPr lang="en-US" dirty="0"/>
              <a:t>Providing idea </a:t>
            </a:r>
          </a:p>
        </p:txBody>
      </p:sp>
    </p:spTree>
    <p:extLst>
      <p:ext uri="{BB962C8B-B14F-4D97-AF65-F5344CB8AC3E}">
        <p14:creationId xmlns:p14="http://schemas.microsoft.com/office/powerpoint/2010/main" val="150115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A91A7-3D9A-426D-A5E0-A9E074B0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2D2388-4D3E-41E3-8214-34019DFDC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Prisma checklist</a:t>
            </a:r>
          </a:p>
          <a:p>
            <a:r>
              <a:rPr lang="en-US" dirty="0"/>
              <a:t>Research Questions </a:t>
            </a:r>
          </a:p>
          <a:p>
            <a:r>
              <a:rPr lang="en-US" dirty="0"/>
              <a:t>Search Strategy</a:t>
            </a:r>
          </a:p>
          <a:p>
            <a:r>
              <a:rPr lang="en-US" dirty="0"/>
              <a:t>Search sources &amp; query construction</a:t>
            </a:r>
          </a:p>
          <a:p>
            <a:r>
              <a:rPr lang="en-US" dirty="0"/>
              <a:t>Inclusion and exclusion criteria</a:t>
            </a:r>
          </a:p>
          <a:p>
            <a:r>
              <a:rPr lang="en-US" dirty="0"/>
              <a:t>Search process</a:t>
            </a:r>
          </a:p>
          <a:p>
            <a:r>
              <a:rPr lang="en-US" dirty="0"/>
              <a:t>Selection process</a:t>
            </a:r>
          </a:p>
          <a:p>
            <a:r>
              <a:rPr lang="en-US" dirty="0"/>
              <a:t>Data collection process</a:t>
            </a:r>
          </a:p>
          <a:p>
            <a:r>
              <a:rPr lang="en-US" dirty="0"/>
              <a:t>Data analysis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98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015E6D-07A5-47E6-A913-B73AE0FDF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PRISMA checklist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1FC76948-9109-46FA-B8B4-03756A0CC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162556"/>
              </p:ext>
            </p:extLst>
          </p:nvPr>
        </p:nvGraphicFramePr>
        <p:xfrm>
          <a:off x="311150" y="1477165"/>
          <a:ext cx="11569700" cy="501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3023">
                  <a:extLst>
                    <a:ext uri="{9D8B030D-6E8A-4147-A177-3AD203B41FA5}">
                      <a16:colId xmlns:a16="http://schemas.microsoft.com/office/drawing/2014/main" val="2238237289"/>
                    </a:ext>
                  </a:extLst>
                </a:gridCol>
                <a:gridCol w="563721">
                  <a:extLst>
                    <a:ext uri="{9D8B030D-6E8A-4147-A177-3AD203B41FA5}">
                      <a16:colId xmlns:a16="http://schemas.microsoft.com/office/drawing/2014/main" val="2853930839"/>
                    </a:ext>
                  </a:extLst>
                </a:gridCol>
                <a:gridCol w="7502857">
                  <a:extLst>
                    <a:ext uri="{9D8B030D-6E8A-4147-A177-3AD203B41FA5}">
                      <a16:colId xmlns:a16="http://schemas.microsoft.com/office/drawing/2014/main" val="102872958"/>
                    </a:ext>
                  </a:extLst>
                </a:gridCol>
                <a:gridCol w="1530099">
                  <a:extLst>
                    <a:ext uri="{9D8B030D-6E8A-4147-A177-3AD203B41FA5}">
                      <a16:colId xmlns:a16="http://schemas.microsoft.com/office/drawing/2014/main" val="125162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Section and Topic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item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Checklist item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Location where it is reported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056816"/>
                  </a:ext>
                </a:extLst>
              </a:tr>
              <a:tr h="7498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Eligibility criteria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Specify the inclusion and exclusion criteria for the review and how studies</a:t>
                      </a:r>
                      <a:endParaRPr lang="ru-RU" sz="18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were grouped for the syntheses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2.5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extLst>
                  <a:ext uri="{0D108BD9-81ED-4DB2-BD59-A6C34878D82A}">
                    <a16:rowId xmlns:a16="http://schemas.microsoft.com/office/drawing/2014/main" val="1906143224"/>
                  </a:ext>
                </a:extLst>
              </a:tr>
              <a:tr h="4538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Information sources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Specify all databases, registers, websites, organizations.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2.4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extLst>
                  <a:ext uri="{0D108BD9-81ED-4DB2-BD59-A6C34878D82A}">
                    <a16:rowId xmlns:a16="http://schemas.microsoft.com/office/drawing/2014/main" val="1584622283"/>
                  </a:ext>
                </a:extLst>
              </a:tr>
              <a:tr h="7498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Search Strategy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Present the full search strategies for all databases, registers and websites,</a:t>
                      </a:r>
                      <a:endParaRPr lang="ru-RU" sz="18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including any filters and limits used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2.3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extLst>
                  <a:ext uri="{0D108BD9-81ED-4DB2-BD59-A6C34878D82A}">
                    <a16:rowId xmlns:a16="http://schemas.microsoft.com/office/drawing/2014/main" val="3162484467"/>
                  </a:ext>
                </a:extLst>
              </a:tr>
              <a:tr h="7402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Selection Process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Specify the methods used to decide whether a study met the inclusion</a:t>
                      </a:r>
                      <a:endParaRPr lang="ru-RU" sz="18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criteria of the review.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2.7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extLst>
                  <a:ext uri="{0D108BD9-81ED-4DB2-BD59-A6C34878D82A}">
                    <a16:rowId xmlns:a16="http://schemas.microsoft.com/office/drawing/2014/main" val="3733892677"/>
                  </a:ext>
                </a:extLst>
              </a:tr>
              <a:tr h="3551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Collection process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Specify the methods used to collect data from reports.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2.6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extLst>
                  <a:ext uri="{0D108BD9-81ED-4DB2-BD59-A6C34878D82A}">
                    <a16:rowId xmlns:a16="http://schemas.microsoft.com/office/drawing/2014/main" val="2984710306"/>
                  </a:ext>
                </a:extLst>
              </a:tr>
              <a:tr h="10458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items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List and define all outcomes for which data were sought. Specify whether</a:t>
                      </a:r>
                      <a:endParaRPr lang="ru-RU" sz="18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all results that were compatible with each outcome domain in each study</a:t>
                      </a:r>
                      <a:endParaRPr lang="ru-RU" sz="18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were sought.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2.8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2017" marR="32017" marT="32017" marB="32017"/>
                </a:tc>
                <a:extLst>
                  <a:ext uri="{0D108BD9-81ED-4DB2-BD59-A6C34878D82A}">
                    <a16:rowId xmlns:a16="http://schemas.microsoft.com/office/drawing/2014/main" val="2019314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34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03FC3F-809A-4F06-A468-EA5012536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075" y="2413863"/>
            <a:ext cx="5818909" cy="433542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62C7B-D0B8-4D58-91C7-77DFC8FE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Queries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33FA24E-DA5D-484C-84B2-AB4FE76B6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7104" y="1724892"/>
            <a:ext cx="6555634" cy="5024391"/>
          </a:xfrm>
        </p:spPr>
      </p:pic>
    </p:spTree>
    <p:extLst>
      <p:ext uri="{BB962C8B-B14F-4D97-AF65-F5344CB8AC3E}">
        <p14:creationId xmlns:p14="http://schemas.microsoft.com/office/powerpoint/2010/main" val="280696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B1B64-80D4-42A7-8C9C-240B5CAE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Methodology: Criteria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A6A01DC-EC0C-439E-AF78-618DBEB00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Inclusion criteria:</a:t>
            </a:r>
            <a:endParaRPr lang="en-US" sz="2000" b="0" dirty="0">
              <a:effectLst/>
            </a:endParaRPr>
          </a:p>
          <a:p>
            <a:pPr marL="914400" rtl="0"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[IC1] Article is published no earlier than 2017</a:t>
            </a:r>
            <a:endParaRPr lang="en-US" sz="2000" b="0" dirty="0">
              <a:effectLst/>
            </a:endParaRPr>
          </a:p>
          <a:p>
            <a:pPr marL="914400" rtl="0"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[IC2] Free access for whole paper</a:t>
            </a:r>
            <a:endParaRPr lang="en-US" sz="2000" b="0" dirty="0">
              <a:effectLst/>
            </a:endParaRPr>
          </a:p>
          <a:p>
            <a:pPr marL="914400" rtl="0"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[IC3] Paper written on English</a:t>
            </a:r>
            <a:endParaRPr lang="en-US" sz="2000" b="0" dirty="0">
              <a:effectLst/>
            </a:endParaRPr>
          </a:p>
          <a:p>
            <a:pPr marL="914400" rtl="0"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[IC4] Represents materials that have examples of practical application, including tests on UAVs</a:t>
            </a:r>
            <a:endParaRPr lang="en-US" sz="2000" b="0" dirty="0">
              <a:effectLst/>
            </a:endParaRPr>
          </a:p>
          <a:p>
            <a:pPr marL="914400" rtl="0"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[IC5] Represented hardware use same kind of sensors</a:t>
            </a:r>
            <a:endParaRPr lang="en-US" sz="2000" b="0" dirty="0">
              <a:solidFill>
                <a:srgbClr val="000000"/>
              </a:solidFill>
              <a:effectLst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Exclusion criteria:</a:t>
            </a:r>
            <a:endParaRPr lang="en-US" sz="2000" b="0" dirty="0">
              <a:effectLst/>
            </a:endParaRPr>
          </a:p>
          <a:p>
            <a:pPr marL="914400" rtl="0"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[EC1] Duplicates should be removed.</a:t>
            </a:r>
            <a:endParaRPr lang="en-US" sz="2000" b="0" dirty="0">
              <a:effectLst/>
            </a:endParaRPr>
          </a:p>
          <a:p>
            <a:pPr marL="914400" rtl="0"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[EC2] The main topic of a paper should correspond to the current research query.</a:t>
            </a:r>
            <a:endParaRPr lang="en-US" sz="2000" b="0" dirty="0">
              <a:effectLst/>
            </a:endParaRPr>
          </a:p>
          <a:p>
            <a:pPr marL="914400" rtl="0"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[EC3] Type - books and conference or symposiums proceedings are not considered</a:t>
            </a:r>
            <a:br>
              <a:rPr lang="en-US" sz="2000" dirty="0"/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3964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EBE35-49FB-470B-AC46-9EFB5037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Year graph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DD3647-2418-48DC-8271-5BD60EFA24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781" y="2162969"/>
            <a:ext cx="7877175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632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A13F9-157D-4F25-9D00-CE4AFFA5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Database graph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9565863-9C56-42B2-B7FE-7D42F5F3E2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848644"/>
            <a:ext cx="71628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8282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320</Words>
  <Application>Microsoft Office PowerPoint</Application>
  <PresentationFormat>Широкоэкранный</PresentationFormat>
  <Paragraphs>68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Week 9 Report for Systematic Literature Review</vt:lpstr>
      <vt:lpstr>Goal for today</vt:lpstr>
      <vt:lpstr>Introduction</vt:lpstr>
      <vt:lpstr>Methodology</vt:lpstr>
      <vt:lpstr>Methodology: PRISMA checklist</vt:lpstr>
      <vt:lpstr>Methodology: Queries</vt:lpstr>
      <vt:lpstr>Methodology: Criteria</vt:lpstr>
      <vt:lpstr>Methodology: Year graph</vt:lpstr>
      <vt:lpstr>Methodology: Database graph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 Report for Systematic Literature Review</dc:title>
  <dc:creator>Vladimir Klepikov</dc:creator>
  <cp:lastModifiedBy>Vladimir Klepikov</cp:lastModifiedBy>
  <cp:revision>12</cp:revision>
  <dcterms:created xsi:type="dcterms:W3CDTF">2023-03-23T09:56:23Z</dcterms:created>
  <dcterms:modified xsi:type="dcterms:W3CDTF">2023-03-30T12:51:49Z</dcterms:modified>
</cp:coreProperties>
</file>
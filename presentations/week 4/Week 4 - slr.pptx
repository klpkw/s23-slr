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1" r:id="rId4"/>
    <p:sldId id="262" r:id="rId5"/>
    <p:sldId id="260" r:id="rId6"/>
    <p:sldId id="263" r:id="rId7"/>
    <p:sldId id="267" r:id="rId8"/>
    <p:sldId id="257" r:id="rId9"/>
    <p:sldId id="264" r:id="rId10"/>
    <p:sldId id="258" r:id="rId11"/>
    <p:sldId id="259" r:id="rId12"/>
    <p:sldId id="266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409E99-4F68-411C-ABA9-B717856AA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39F8F2A-2C01-4A03-90F0-9CFC39EE1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4FE686-E906-4D61-98F4-EC702E90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38ED0-5A44-4172-8319-5C450EA17959}" type="datetimeFigureOut">
              <a:rPr lang="ru-RU" smtClean="0"/>
              <a:t>16.02.2023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9AACDF-1D05-4BB7-AE2C-96B6B8605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6D10F0-DCB2-4F9C-B6DA-F8A5E9F0D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7752-F349-43B8-AC0E-E47B65FABA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1822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CDBC35-4F32-4D75-9EF6-28A411D4E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DF1473-8670-4E8D-8C12-08B2142BE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5D7726-93B7-40B6-9F5F-83E5C0F34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38ED0-5A44-4172-8319-5C450EA17959}" type="datetimeFigureOut">
              <a:rPr lang="ru-RU" smtClean="0"/>
              <a:t>16.02.2023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CC1986-6CAB-4C6C-84C0-B032C0B26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064328-D0B9-4993-893B-FB12227F0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7752-F349-43B8-AC0E-E47B65FABA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1578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E650B8-E26E-4FD4-ABF7-E4041616C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1998C7-3924-4189-8268-42C438988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57093B-3D13-4014-8E40-0EBE01AAD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38ED0-5A44-4172-8319-5C450EA17959}" type="datetimeFigureOut">
              <a:rPr lang="ru-RU" smtClean="0"/>
              <a:t>16.02.2023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30269C-C1F6-4816-A0C1-229E5BEA1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3C1AA8-BB7D-44CD-A8BC-46040547A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7752-F349-43B8-AC0E-E47B65FABA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5510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26E163-4492-4C8D-B22F-2524D8B8F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88BAEA-24A6-4DAA-9EBB-8DC256FC6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627E60F-5779-44C8-9BBC-8A80EF4C6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C3391D-E3C9-4A4C-8D32-BF1FA9FF5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38ED0-5A44-4172-8319-5C450EA17959}" type="datetimeFigureOut">
              <a:rPr lang="ru-RU" smtClean="0"/>
              <a:t>16.02.2023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2E9BFCC-9B90-405A-93AD-3E2546E97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5FA776-D802-4E25-BF7D-555E8D8CE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7752-F349-43B8-AC0E-E47B65FABA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1948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6D2C72-C1EE-4438-96A9-DC200586E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3488C5-108B-4D2C-B5A6-98F50FF41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1CE0C5-E87A-4E6D-9948-F4142D19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2CFB8A7-58B5-46CD-9746-5F479851EC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92AC242-86DF-43AB-B201-C3BAC6836E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95ECBC7-A3F7-4A53-B4AC-E5CF9812E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38ED0-5A44-4172-8319-5C450EA17959}" type="datetimeFigureOut">
              <a:rPr lang="ru-RU" smtClean="0"/>
              <a:t>16.02.2023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1230A48-02FD-4B08-9861-5B1DA972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6DC32C6-8A3E-415D-8D18-F97B55668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7752-F349-43B8-AC0E-E47B65FABA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9063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E38811-B5E4-4A29-B301-AB1BB1600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66EE900-A4CA-4974-8244-9CD31970C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38ED0-5A44-4172-8319-5C450EA17959}" type="datetimeFigureOut">
              <a:rPr lang="ru-RU" smtClean="0"/>
              <a:t>16.02.2023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7F58CD9-46C9-4DDC-AAA7-CB2CC2FB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6F6FE11-2792-427E-BE65-4FBE7E189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7752-F349-43B8-AC0E-E47B65FABA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0016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348F221-2BEE-4565-8512-753BD9BA3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38ED0-5A44-4172-8319-5C450EA17959}" type="datetimeFigureOut">
              <a:rPr lang="ru-RU" smtClean="0"/>
              <a:t>16.02.2023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7E49A53-F976-4AA1-9330-37959D088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E82AE4-A7A1-45C8-A71E-40284AA64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7752-F349-43B8-AC0E-E47B65FABA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2683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8FD5C5-7903-4F94-84E6-F73D33AC1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BBC528-4752-4412-BBC0-F7BC71793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866B8D-CAFB-4387-B50D-5FE67B92E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776DBA-1B32-4784-8CDE-BEF497640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38ED0-5A44-4172-8319-5C450EA17959}" type="datetimeFigureOut">
              <a:rPr lang="ru-RU" smtClean="0"/>
              <a:t>16.02.2023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4CC03CB-AC46-43F5-865D-21A0CE0FE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5BC1B8-5447-4A7C-B7AF-33958DE51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7752-F349-43B8-AC0E-E47B65FABA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4793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AE5DEB-16E3-4812-8786-7F062BD54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F627E8C-7429-43B8-92E5-2407A0E849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D683FA0-2208-4660-AD74-3A9F671C26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96D940D-5828-4840-9F4F-F08930A22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38ED0-5A44-4172-8319-5C450EA17959}" type="datetimeFigureOut">
              <a:rPr lang="ru-RU" smtClean="0"/>
              <a:t>16.02.2023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08C564F-E6F3-4D27-8573-5F90AFD64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331AFAD-C36D-4F66-9F0E-ECB0C7290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7752-F349-43B8-AC0E-E47B65FABA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7643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D5C73C-3ED0-4397-9574-518740EAE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48BBE62-1224-4985-8685-A54BCAD71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C0DE73-C460-4B92-89CC-01FEFF31F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38ED0-5A44-4172-8319-5C450EA17959}" type="datetimeFigureOut">
              <a:rPr lang="ru-RU" smtClean="0"/>
              <a:t>16.02.2023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407E57-199C-4A15-A3C4-72180104D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C72490-1E80-413A-8178-45BA8DE41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7752-F349-43B8-AC0E-E47B65FABA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7952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718572E-D773-4F6E-82EF-8F103BCE1F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91E0879-5BD0-4841-976E-04E6DEC0A0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DFD57D-F997-4705-9527-C95B74088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38ED0-5A44-4172-8319-5C450EA17959}" type="datetimeFigureOut">
              <a:rPr lang="ru-RU" smtClean="0"/>
              <a:t>16.02.2023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B71DC4-8D3E-4BE5-8C8F-1FFC26B96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734F3F-04F8-4BA6-BFCC-91C82230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7752-F349-43B8-AC0E-E47B65FABA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7407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3A365F-D203-4817-AD37-81F5A948B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53B75F7-1812-46EA-9ABD-FF73AB72C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4331A4-6552-4EDA-BB76-5F07C526F4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738ED0-5A44-4172-8319-5C450EA17959}" type="datetimeFigureOut">
              <a:rPr lang="ru-RU" smtClean="0"/>
              <a:t>16.02.2023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6AE17F-5B91-4270-8989-200A314D60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17162B-E757-48A3-9564-9DE0614C37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7752-F349-43B8-AC0E-E47B65FABA3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324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8102E4-FB0B-4E1D-A571-18AFCDF15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06727"/>
            <a:ext cx="9144000" cy="2387600"/>
          </a:xfrm>
        </p:spPr>
        <p:txBody>
          <a:bodyPr/>
          <a:lstStyle/>
          <a:p>
            <a:r>
              <a:rPr lang="en-US" dirty="0"/>
              <a:t>State on Week 4 for Systematic Literature Review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90D569C-9919-42CD-89BE-7CB64F481F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Oleg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Ostapovich</a:t>
            </a:r>
            <a:r>
              <a:rPr lang="en-US" b="0" i="0" dirty="0">
                <a:effectLst/>
                <a:latin typeface="Arial" panose="020B0604020202020204" pitchFamily="34" charset="0"/>
              </a:rPr>
              <a:t>, Vladimir Klepikov, Mark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Vishnevskiy</a:t>
            </a:r>
            <a:r>
              <a:rPr lang="en-US" b="0" i="0" dirty="0">
                <a:effectLst/>
                <a:latin typeface="Arial" panose="020B0604020202020204" pitchFamily="34" charset="0"/>
              </a:rPr>
              <a:t>, Amir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Zakirov</a:t>
            </a:r>
            <a:r>
              <a:rPr lang="en-US" b="0" i="0" dirty="0">
                <a:effectLst/>
                <a:latin typeface="Arial" panose="020B0604020202020204" pitchFamily="34" charset="0"/>
              </a:rPr>
              <a:t>, and Abdul Rahman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Takriti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0298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C6915A-33D7-4F40-92D7-264FC01DC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recap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4D4308-DD05-42D9-AA73-93ADB2C74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04168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en-US" dirty="0"/>
              <a:t>Theme: LiDAR and Visual Odometry Methods in Simultaneous Localization and Mapping for Unmanned Aerial Vehicles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Keywords:</a:t>
            </a:r>
            <a:endParaRPr lang="ru-RU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3079D734-63DD-438A-B043-8AF1D240B4BD}"/>
              </a:ext>
            </a:extLst>
          </p:cNvPr>
          <p:cNvSpPr txBox="1">
            <a:spLocks/>
          </p:cNvSpPr>
          <p:nvPr/>
        </p:nvSpPr>
        <p:spPr>
          <a:xfrm>
            <a:off x="838200" y="3829793"/>
            <a:ext cx="10515600" cy="2265857"/>
          </a:xfrm>
          <a:prstGeom prst="rect">
            <a:avLst/>
          </a:prstGeom>
        </p:spPr>
        <p:txBody>
          <a:bodyPr vert="horz" lIns="91440" tIns="45720" rIns="91440" bIns="45720" numCol="2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SLAM</a:t>
            </a:r>
          </a:p>
          <a:p>
            <a:r>
              <a:rPr lang="en-US" dirty="0"/>
              <a:t>visual odometry</a:t>
            </a:r>
          </a:p>
          <a:p>
            <a:r>
              <a:rPr lang="en-US" dirty="0"/>
              <a:t>LiDAR odometry</a:t>
            </a:r>
          </a:p>
          <a:p>
            <a:r>
              <a:rPr lang="en-US" dirty="0"/>
              <a:t>UAV</a:t>
            </a:r>
          </a:p>
          <a:p>
            <a:r>
              <a:rPr lang="en-US" dirty="0"/>
              <a:t>Navigation</a:t>
            </a:r>
          </a:p>
          <a:p>
            <a:r>
              <a:rPr lang="en-US" dirty="0"/>
              <a:t>sensor fusion</a:t>
            </a:r>
          </a:p>
          <a:p>
            <a:r>
              <a:rPr lang="en-US" dirty="0"/>
              <a:t>Mapping</a:t>
            </a:r>
          </a:p>
          <a:p>
            <a:r>
              <a:rPr lang="en-US" dirty="0"/>
              <a:t>RGB camera</a:t>
            </a:r>
          </a:p>
        </p:txBody>
      </p:sp>
    </p:spTree>
    <p:extLst>
      <p:ext uri="{BB962C8B-B14F-4D97-AF65-F5344CB8AC3E}">
        <p14:creationId xmlns:p14="http://schemas.microsoft.com/office/powerpoint/2010/main" val="1348699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F6B0A3-CB87-4A93-974B-9869C6B51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Bugfix from previous week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909D0A-43E3-4B62-8F63-91026207D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Inclusion criteria:</a:t>
            </a:r>
          </a:p>
          <a:p>
            <a:r>
              <a:rPr lang="en-US" dirty="0"/>
              <a:t>- Article is peer reviewed and authors h-index at least 5</a:t>
            </a:r>
          </a:p>
          <a:p>
            <a:r>
              <a:rPr lang="en-US" dirty="0"/>
              <a:t>- Article is in English. We decided to focus on sources in English since the overwhelming amount of peer reviewed research was in English</a:t>
            </a:r>
          </a:p>
          <a:p>
            <a:r>
              <a:rPr lang="en-US" dirty="0"/>
              <a:t>- Paper published between 2019 - 2023</a:t>
            </a:r>
          </a:p>
          <a:p>
            <a:r>
              <a:rPr lang="en-US" dirty="0"/>
              <a:t>- Represents materials that have examples of practical application, including tests on UAVs</a:t>
            </a:r>
          </a:p>
          <a:p>
            <a:r>
              <a:rPr lang="en-US" dirty="0"/>
              <a:t>- Uses same kind of sensors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8478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D8B072-2AF1-4562-9B66-EA0F1E876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Bugfix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42D923-5DE9-4430-A9CF-3C2968284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Exclusion criteria:</a:t>
            </a:r>
          </a:p>
          <a:p>
            <a:r>
              <a:rPr lang="en-US" dirty="0"/>
              <a:t>Uses </a:t>
            </a:r>
            <a:r>
              <a:rPr lang="en-US" dirty="0" err="1"/>
              <a:t>stereocamera</a:t>
            </a:r>
            <a:endParaRPr lang="en-US" dirty="0"/>
          </a:p>
          <a:p>
            <a:r>
              <a:rPr lang="en-US" dirty="0"/>
              <a:t>Uses outdated versions of same method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6327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4AE00C-8A04-44C9-9773-EEC02D8DF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work from this week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A4AE59-3E14-496E-80C8-D871725DE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Queries</a:t>
            </a:r>
          </a:p>
          <a:p>
            <a:r>
              <a:rPr lang="en-US" dirty="0"/>
              <a:t>Articles from this queries</a:t>
            </a:r>
          </a:p>
          <a:p>
            <a:r>
              <a:rPr lang="en-US" dirty="0"/>
              <a:t>Review of articles</a:t>
            </a:r>
          </a:p>
          <a:p>
            <a:r>
              <a:rPr lang="en-US" dirty="0"/>
              <a:t>Main ideas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6541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4DF91E-2802-4B6C-BEE1-8F4DF2C2C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Queries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81F167-93C2-4DFC-96D4-223E25289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SLAM OR visual odometry OR LiDAR OR odometry OR UAV OR navigation OR sensor OR fusion OR mapping.</a:t>
            </a:r>
          </a:p>
          <a:p>
            <a:r>
              <a:rPr lang="en-US" dirty="0"/>
              <a:t>SLAM AND LiDAR AND odometry AND UAV</a:t>
            </a:r>
          </a:p>
          <a:p>
            <a:r>
              <a:rPr lang="en-US" dirty="0"/>
              <a:t>LiDAR AND odometry AND UAV AND navigation</a:t>
            </a:r>
          </a:p>
          <a:p>
            <a:r>
              <a:rPr lang="en-US" dirty="0"/>
              <a:t>Odometry or localization or mapping or Odometry or SLAM And Camera or </a:t>
            </a:r>
            <a:r>
              <a:rPr lang="en-US" dirty="0" err="1"/>
              <a:t>imu</a:t>
            </a:r>
            <a:r>
              <a:rPr lang="en-US" dirty="0"/>
              <a:t> or lidar or </a:t>
            </a:r>
            <a:r>
              <a:rPr lang="en-US" dirty="0" err="1"/>
              <a:t>gnss</a:t>
            </a:r>
            <a:r>
              <a:rPr lang="en-US" dirty="0"/>
              <a:t> or </a:t>
            </a:r>
            <a:r>
              <a:rPr lang="en-US" dirty="0" err="1"/>
              <a:t>gps</a:t>
            </a:r>
            <a:endParaRPr lang="en-US" dirty="0"/>
          </a:p>
          <a:p>
            <a:r>
              <a:rPr lang="en-US" dirty="0"/>
              <a:t>UAV or drone or plane And Odometry or localization or mapping or Odometry or SLAM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6075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2A80E9-028A-4383-B26C-3A1BA9FBA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we use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C78F9C-7586-4614-8CEE-37FACEAC2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Google Scholar</a:t>
            </a:r>
          </a:p>
          <a:p>
            <a:r>
              <a:rPr lang="en-US" dirty="0"/>
              <a:t>Science Direct</a:t>
            </a:r>
          </a:p>
          <a:p>
            <a:r>
              <a:rPr lang="en-US" dirty="0"/>
              <a:t>Research Gate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4717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D7568F-1885-4895-8117-5C6AFABF2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Reviewed Articles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D9A526-2C62-4878-A9AA-469D5E1F3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 portable UAV-based laser-induced fluorescence lidar system for oil pollution and aquatic environment monitoring</a:t>
            </a:r>
          </a:p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Potential of UAV-based sun-induced chlorophyll fluorescence to detect water stress in sugar beet</a:t>
            </a:r>
            <a:endParaRPr lang="en-US" sz="1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Experimental tests and radiometric calculations for the feasibility of fluorescence LIDAR-based discrimination of oil spills from UAV</a:t>
            </a:r>
          </a:p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 Comparison of LiDAR-based SLAM Systems for Control of Unmanned Aerial Vehicles</a:t>
            </a:r>
          </a:p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RTLIO: Real-Time LiDAR-Inertial Odometry and Mapping for UAVs</a:t>
            </a:r>
            <a:endParaRPr lang="en-US" sz="1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VIRAL SLAM: Tightly Coupled Camera-IMU-UWB-Lidar SLAM</a:t>
            </a:r>
          </a:p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Tightly-coupled camera/LiDAR integration for point cloud generation from GNSS/INS-assisted UAV mapping systems</a:t>
            </a:r>
            <a:endParaRPr lang="en-US" sz="1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Robust Autonomous Landing of UAV in Non-Cooperative Environments based on Dynamic Time Camera-LiDAR Fusion</a:t>
            </a:r>
            <a:endParaRPr lang="en-US" sz="1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8380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D7568F-1885-4895-8117-5C6AFABF2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Reviewed Articles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D9A526-2C62-4878-A9AA-469D5E1F3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DV-LOAM: Direct Visual LiDAR Odometry and Mapping</a:t>
            </a:r>
          </a:p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R3LIVE: A Robust, Real-time, RGB-colored, LiDAR-Inertial-Visual tightly-coupled state Estimation and mapping package</a:t>
            </a:r>
          </a:p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Robust GNSS-denied localization for UAV using particle filter and visual odometer</a:t>
            </a:r>
            <a:endParaRPr lang="en-US" sz="1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FAST-LIO: A Fast, Robust LiDAR-inertial Odometry Package by Tightly-Coupled Iterated Kalman Filter</a:t>
            </a:r>
          </a:p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Review of SLAM Algorithms for Indoor Mobile Robot with LIDAR and RGB-D Camera Technology</a:t>
            </a:r>
          </a:p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 General Optimization-based Framework for Global Pose Estimation with Multiple Sensors</a:t>
            </a:r>
          </a:p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 GNSS/INS/LiDAR Integration Scheme for UAV-Based Navigation in GNSS-Challenging Environments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6582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66FE85-92D0-4F91-A891-9C4339268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Ideas from articles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AAFB21-2716-40A6-903C-3E9931B0A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Generally, we have 3 groups:</a:t>
            </a:r>
          </a:p>
          <a:p>
            <a:r>
              <a:rPr lang="en-US" dirty="0"/>
              <a:t>First group – LiDAR and camera combination for precision improvement and data calibration</a:t>
            </a:r>
          </a:p>
          <a:p>
            <a:r>
              <a:rPr lang="en-US" dirty="0"/>
              <a:t>Second – GPS, camera, LiDAR data combining for SLAM</a:t>
            </a:r>
          </a:p>
          <a:p>
            <a:r>
              <a:rPr lang="en-US" dirty="0"/>
              <a:t>Third – algorithms comparison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Technically, we found many algorithms for out task, so, we can assemble data for our research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946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AFEFDC-C571-42D7-9170-48884B4D4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(Some managements features that no one want see)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A08822-BE24-4B55-8AD1-2C32D8EDC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Now we have git with our notes and Obsidian ideas draft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D56362F-4EC5-4824-9259-684B0EC95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852" y="2713481"/>
            <a:ext cx="3461301" cy="318439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8E2520B-1875-4740-A306-3C56C2566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680" y="2713481"/>
            <a:ext cx="3461301" cy="324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697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E0D119-FCB6-41BF-BA6D-10028BC6F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Thanks!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1CBC90D-0942-4B9D-8C71-C635F88AC6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90978" y="2288644"/>
            <a:ext cx="4010043" cy="3193518"/>
          </a:xfrm>
        </p:spPr>
      </p:pic>
    </p:spTree>
    <p:extLst>
      <p:ext uri="{BB962C8B-B14F-4D97-AF65-F5344CB8AC3E}">
        <p14:creationId xmlns:p14="http://schemas.microsoft.com/office/powerpoint/2010/main" val="362727247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505</Words>
  <Application>Microsoft Office PowerPoint</Application>
  <PresentationFormat>Широкоэкранный</PresentationFormat>
  <Paragraphs>66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Тема Office</vt:lpstr>
      <vt:lpstr>State on Week 4 for Systematic Literature Review</vt:lpstr>
      <vt:lpstr>Quick recap</vt:lpstr>
      <vt:lpstr>Bugfix from previous week</vt:lpstr>
      <vt:lpstr>Bugfix</vt:lpstr>
      <vt:lpstr>Our work from this week</vt:lpstr>
      <vt:lpstr>Queries</vt:lpstr>
      <vt:lpstr>Database we use</vt:lpstr>
      <vt:lpstr>Reviewed Articles</vt:lpstr>
      <vt:lpstr>Reviewed Articles</vt:lpstr>
      <vt:lpstr>Main Ideas from articles</vt:lpstr>
      <vt:lpstr>(Some managements features that no one want see)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 on Week 4 for Systematic Literature Review</dc:title>
  <dc:creator>Vladimir Klepikov</dc:creator>
  <cp:lastModifiedBy>Vladimir Klepikov</cp:lastModifiedBy>
  <cp:revision>9</cp:revision>
  <dcterms:created xsi:type="dcterms:W3CDTF">2023-02-16T10:05:03Z</dcterms:created>
  <dcterms:modified xsi:type="dcterms:W3CDTF">2023-02-16T12:35:34Z</dcterms:modified>
</cp:coreProperties>
</file>